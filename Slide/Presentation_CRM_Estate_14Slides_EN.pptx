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0"/>
            <a:ext cx="137160" cy="6858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4" name="Image 0" descr="C:\Users\DELL\Downloads\slide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2560320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69164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12700">
            <a:solidFill>
              <a:srgbClr val="006B2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691640"/>
            <a:ext cx="3291840" cy="32918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REAL ESTATE MANAGEMENT CRM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31520" y="2176272"/>
            <a:ext cx="6217920" cy="7315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ĐẤT XANH MIỀN TRUNG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31520" y="2944368"/>
            <a:ext cx="6217920" cy="38404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HIGH-END REAL ESTATE CRM SYSTEM REVIEW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621792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digitization of property sales workflows, live project inventory, multi-channel customer care, and automated transactions for Regal Group.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" y="4160520"/>
            <a:ext cx="6035040" cy="1691640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434340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4343400"/>
            <a:ext cx="201168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 &amp; PRESENTER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60120" y="4681728"/>
            <a:ext cx="5486400" cy="38404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 Trần Anh Đài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5120640"/>
            <a:ext cx="5486400" cy="5943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Audience: Technical Evaluation Committee, Project Leads &amp; Supervisory Board</a:t>
            </a:r>
            <a:endParaRPr lang="en-US" sz="9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Stack: Spring Boot 3 Java 17 Microservices, React 19 Frontend, Cloud Topology &amp; RBAC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680960" y="731520"/>
            <a:ext cx="4023360" cy="512064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09560" y="960120"/>
            <a:ext cx="3566160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PLATFORM SHOWCASE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909560" y="1353312"/>
            <a:ext cx="3566160" cy="260604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1" descr="C:\Users\DELL\Downloads\slide\assets\screen_admin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399032"/>
            <a:ext cx="3474720" cy="25146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909560" y="4096512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EAF7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028432" y="4151376"/>
            <a:ext cx="3337560" cy="7772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Frontend: React 19 + TypeScript + Ant Design 5 (Vercel)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Backend: Spring Boot 3 Microservices (Render Blueprint)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Database: 3 Supabase PostgreSQL DBs + Media Bucket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URL: estate.daidev.me (fe-estate-system.vercel.app)</a:t>
            </a:r>
            <a:endParaRPr lang="en-US" sz="820" dirty="0"/>
          </a:p>
        </p:txBody>
      </p:sp>
      <p:sp>
        <p:nvSpPr>
          <p:cNvPr id="21" name="Text 17"/>
          <p:cNvSpPr/>
          <p:nvPr/>
        </p:nvSpPr>
        <p:spPr>
          <a:xfrm>
            <a:off x="7909560" y="5047488"/>
            <a:ext cx="3566160" cy="2286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Status: Verified on Render &amp; Vercel | Oct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28655" cy="47548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 &amp; TABLE OF CONTENTS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728655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technical briefing across architecture, security, persona interfaces, and roadmap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17920"/>
            <a:ext cx="10728655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272784"/>
            <a:ext cx="6400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ĐẤT XANH MIỀN TRUNG • REGAL GROUP | ENTERPRISE CRM SYSTEM REVIEW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31375" y="6272784"/>
            <a:ext cx="1828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of 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664208"/>
            <a:ext cx="2523744" cy="4297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773936"/>
            <a:ext cx="2304288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006B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773936"/>
            <a:ext cx="2304288" cy="3657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01 • Technical Core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8680" y="2231136"/>
            <a:ext cx="2249424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Foundation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2743200"/>
            <a:ext cx="2249424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52928"/>
            <a:ext cx="2249424" cy="28346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System Purpose &amp; Role-Based Access Control (RBAC)</a:t>
            </a:r>
            <a:endParaRPr lang="en-US" sz="8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Cloud Deployment Topology (Vercel, Render, Supabase, Resend)</a:t>
            </a:r>
            <a:endParaRPr lang="en-US" sz="8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Security Architecture: 2FA TOTP, Email OTP &amp; Stateless JWT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465576" y="1664208"/>
            <a:ext cx="2523744" cy="4297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75304" y="1773936"/>
            <a:ext cx="2304288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75304" y="1773936"/>
            <a:ext cx="2304288" cy="3657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02 • UI &amp; Workflows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02736" y="2231136"/>
            <a:ext cx="2249424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Interfaces &amp; Operations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02736" y="2743200"/>
            <a:ext cx="2249424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02736" y="2852928"/>
            <a:ext cx="2249424" cy="28346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Admin Portal: User Provisioning &amp; System Audits</a:t>
            </a:r>
            <a:endParaRPr lang="en-US" sz="8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Manager Portal: Project Inventory &amp; Booking Approval</a:t>
            </a:r>
            <a:endParaRPr lang="en-US" sz="8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Sales Portal: Lead Pipeline &amp; Site-Visit Appointments</a:t>
            </a:r>
            <a:endParaRPr lang="en-US" sz="8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Multi-Channel Customer Care: 360° Interaction Logs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199632" y="1664208"/>
            <a:ext cx="2523744" cy="4297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773936"/>
            <a:ext cx="2304288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773936"/>
            <a:ext cx="2304288" cy="3657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03 • Architecture &amp; Flow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36792" y="2231136"/>
            <a:ext cx="2249424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Deep-Dive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36792" y="2743200"/>
            <a:ext cx="2249424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2852928"/>
            <a:ext cx="2249424" cy="28346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End-to-End Real Estate Transaction Lifecycle (Booking to Deed)</a:t>
            </a:r>
            <a:endParaRPr lang="en-US" sz="8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Cloud Free Tier Constraints: In-Memory vs Kafka/Redis Trade-offs</a:t>
            </a:r>
            <a:endParaRPr lang="en-US" sz="8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Cold-Start Mitigation &amp; SMTP Network Port Solutions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8933688" y="1664208"/>
            <a:ext cx="2523744" cy="4297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43416" y="1773936"/>
            <a:ext cx="2304288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43416" y="1773936"/>
            <a:ext cx="2304288" cy="3657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04 • Roadmap &amp; Demo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070848" y="2231136"/>
            <a:ext cx="2249424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AI &amp; Business Value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070848" y="2743200"/>
            <a:ext cx="2249424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70848" y="2852928"/>
            <a:ext cx="2249424" cy="28346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Lightweight AI Assistant on Render (Spring AI + Gemini + pgvector)</a:t>
            </a:r>
            <a:endParaRPr lang="en-US" sz="8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Quantifiable Business Impact &amp; SaaS Cost Elimination</a:t>
            </a:r>
            <a:endParaRPr lang="en-US" sz="8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Conclusion, Live System Demonstration &amp; Committee Q&amp;A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ROLES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28655" cy="47548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 &amp; ROLE-BASED ACCESS CONTROL (RBAC)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728655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Securing high-value real estate transaction data through enterprise role separation and Spring Security filters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17920"/>
            <a:ext cx="10728655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272784"/>
            <a:ext cx="6400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ĐẤT XANH MIỀN TRUNG • REGAL GROUP | ENTERPRISE CRM SYSTEM REVIEW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31375" y="6272784"/>
            <a:ext cx="1828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of 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664208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801368"/>
            <a:ext cx="31546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 w="9525">
            <a:solidFill>
              <a:srgbClr val="006B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01368"/>
            <a:ext cx="3063240" cy="38404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(System Superuser)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2258568"/>
            <a:ext cx="3099816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Scope: System-wide governance &amp; data integrity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96112" y="2560320"/>
            <a:ext cx="3099816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670048"/>
            <a:ext cx="3099816" cy="27432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&amp; Employee Provisioning: Creation, department assignment, and instant credential revocation.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Role Assignment: Assigning ADMIN, MANAGER, or SALES authorities via Spring Security.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Global Security Auditing: Enforcing mandatory 2FA TOTP, review of authentication logs.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Macro Revenue Analytics: High-level financial oversight across all Regal Group projects.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96112" y="5577840"/>
            <a:ext cx="3099816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006B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5577840"/>
            <a:ext cx="3099816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Rule: Enforced via @PreAuthorize("MASTER CONTROL")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379976" y="1664208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17136" y="1801368"/>
            <a:ext cx="31546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2856" y="1801368"/>
            <a:ext cx="3063240" cy="38404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(Sales Director)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44568" y="2258568"/>
            <a:ext cx="3099816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Scope: Sales division &amp; project branch oversight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44568" y="2560320"/>
            <a:ext cx="3099816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4568" y="2670048"/>
            <a:ext cx="3099816" cy="27432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Inventory Management: Unlocking &amp; monitoring property baskets (Regal Legend, Complex, Victoria).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Lead Allocation: Dynamic distribution of marketing leads to consultants based on capacity.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Transaction Approval: Authorizing reservation bookings (50M-100M VND) and approving official deposits.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Team KPI Supervision: Monitoring conversion velocity from inquiry to signed contract.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44568" y="5577840"/>
            <a:ext cx="3099816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44568" y="5577840"/>
            <a:ext cx="3099816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Rule: Enforced via @PreAuthorize("APPROVAL AUTHORITY")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8028432" y="1664208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65592" y="1801368"/>
            <a:ext cx="31546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11312" y="1801368"/>
            <a:ext cx="3063240" cy="38404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(Property Consultant)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93024" y="2258568"/>
            <a:ext cx="3099816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Scope: Personal customer portfolio &amp; daily outreach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193024" y="2560320"/>
            <a:ext cx="3099816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93024" y="2670048"/>
            <a:ext cx="3099816" cy="27432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360° Customer Dossier: Managing client profiles, budget tiers (3B - 20B+ VND), and preferred orientations.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Multi-Channel Interaction Log: Timestamped recording of phone calls, site tours, and emails.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Showroom Appointments: Scheduling physical site visits and virtual reality model tours.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Deal Progression: Generating booking tickets and initiating deposit vouchers for manager lock.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193024" y="5577840"/>
            <a:ext cx="3099816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93024" y="5577840"/>
            <a:ext cx="3099816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Rule: Enforced via @PreAuthorize("CLIENT EXECUTION")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INFRASTRUCTURE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28655" cy="47548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CLOUD TOPOLOGY &amp; THIRD-PARTY SERVICES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728655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Zero-infrastructure-cost architecture orchestrating Vercel Edge, Render Microservices, Supabase &amp; Resend API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17920"/>
            <a:ext cx="10728655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272784"/>
            <a:ext cx="6400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ĐẤT XANH MIỀN TRUNG • REGAL GROUP | ENTERPRISE CRM SYSTEM REVIEW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31375" y="6272784"/>
            <a:ext cx="1828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of 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664208"/>
            <a:ext cx="2523744" cy="4297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773936"/>
            <a:ext cx="2304288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9525">
            <a:solidFill>
              <a:srgbClr val="006B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773936"/>
            <a:ext cx="2304288" cy="34747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• Vercel Cloud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2194560"/>
            <a:ext cx="2249424" cy="2286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Edge Hosting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68680" y="2450592"/>
            <a:ext cx="2249424" cy="228600"/>
          </a:xfrm>
          <a:prstGeom prst="roundRect">
            <a:avLst>
              <a:gd name="adj" fmla="val 16000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450592"/>
            <a:ext cx="2194560" cy="2286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estate.daidev.me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68680" y="2761488"/>
            <a:ext cx="2249424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852928"/>
            <a:ext cx="2249424" cy="292608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React 19 + TypeScript + Vite build pipeline with zero configuration.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Global Edge Network delivering sub-20ms initial asset latency.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Automatic continuous deployment (CI/CD) hooked directly to GitHub repo.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Multi-tenant route guards &amp; Web Locks token refresh synchronization.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3465576" y="1664208"/>
            <a:ext cx="2523744" cy="4297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75304" y="1773936"/>
            <a:ext cx="2304288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75304" y="1773936"/>
            <a:ext cx="2304288" cy="34747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• Render Cloud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02736" y="2194560"/>
            <a:ext cx="2249424" cy="2286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Microservices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02736" y="2450592"/>
            <a:ext cx="2249424" cy="228600"/>
          </a:xfrm>
          <a:prstGeom prst="roundRect">
            <a:avLst>
              <a:gd name="adj" fmla="val 16000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2450592"/>
            <a:ext cx="2194560" cy="2286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crm-gateway-9dj8.onrender.com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02736" y="2761488"/>
            <a:ext cx="2249424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02736" y="2852928"/>
            <a:ext cx="2249424" cy="292608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Spring Boot 3 API Gateway (:8080) running Adoptium Temurin 17.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Internal microservices network hosting 5 isolated business services.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Automatic health recovery (Auto-restart) and native SSL/TLS encryption.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Optimized non-Docker JVM process consuming &lt;300MB RAM per instance.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199632" y="1664208"/>
            <a:ext cx="2523744" cy="4297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773936"/>
            <a:ext cx="2304288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773936"/>
            <a:ext cx="2304288" cy="34747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• Supabase Cloud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36792" y="2194560"/>
            <a:ext cx="2249424" cy="2286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Multi-Database PostgreSQL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336792" y="2450592"/>
            <a:ext cx="2249424" cy="228600"/>
          </a:xfrm>
          <a:prstGeom prst="roundRect">
            <a:avLst>
              <a:gd name="adj" fmla="val 16000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64224" y="2450592"/>
            <a:ext cx="2194560" cy="2286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aws-0-ap-southeast-1.pooler.supabase.com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336792" y="2761488"/>
            <a:ext cx="2249424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2852928"/>
            <a:ext cx="2249424" cy="292608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Physical isolation across 3 PostgreSQL DBs: USER_DB, CUSTOMER_DB, CRM_DB.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Row-Level Security (RLS) enabled across all 16 production entity tables.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Supabase Storage (estate-media) hosting high-res property floorplans.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Logical UUID foreign keys ensuring autonomous service scalability.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8933688" y="1664208"/>
            <a:ext cx="2523744" cy="4297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43416" y="1773936"/>
            <a:ext cx="2304288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43416" y="1773936"/>
            <a:ext cx="2304288" cy="34747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• Resend API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070848" y="2194560"/>
            <a:ext cx="2249424" cy="2286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Transactional Email Engine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070848" y="2450592"/>
            <a:ext cx="2249424" cy="228600"/>
          </a:xfrm>
          <a:prstGeom prst="roundRect">
            <a:avLst>
              <a:gd name="adj" fmla="val 16000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98280" y="2450592"/>
            <a:ext cx="2194560" cy="2286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api.resend.com (HTTPS Port 443)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9070848" y="2761488"/>
            <a:ext cx="2249424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70848" y="2852928"/>
            <a:ext cx="2249424" cy="292608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Immediate dispatch of 6-digit cryptographic authentication OTPs.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transactional emails for reservation booking &amp; deposit receipts.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Pure REST HTTP communication eliminating ISP / cloud SMTP port blocks.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DKIM &amp; SPF verified domain ensuring 99.8% inbox deliverability.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AUTH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28655" cy="47548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AUTHENTICATION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728655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Multi-tiered identity verification: HMAC-SHA256 JWT, TOTP 2FA, Email OTP, and Bcrypt rate limiting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17920"/>
            <a:ext cx="10728655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272784"/>
            <a:ext cx="6400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ĐẤT XANH MIỀN TRUNG • REGAL GROUP | ENTERPRISE CRM SYSTEM REVIEW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31375" y="6272784"/>
            <a:ext cx="1828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of 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572768"/>
            <a:ext cx="6035040" cy="4462272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645920"/>
            <a:ext cx="5888736" cy="292608"/>
          </a:xfrm>
          <a:prstGeom prst="roundRect">
            <a:avLst>
              <a:gd name="adj" fmla="val 18750"/>
            </a:avLst>
          </a:prstGeom>
          <a:solidFill>
            <a:srgbClr val="1E2923"/>
          </a:solidFill>
          <a:ln w="12700">
            <a:solidFill>
              <a:srgbClr val="1E29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737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1737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1737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1682496"/>
            <a:ext cx="3474720" cy="201168"/>
          </a:xfrm>
          <a:prstGeom prst="roundRect">
            <a:avLst>
              <a:gd name="adj" fmla="val 18182"/>
            </a:avLst>
          </a:prstGeom>
          <a:solidFill>
            <a:srgbClr val="2B3831"/>
          </a:solidFill>
          <a:ln w="6350">
            <a:solidFill>
              <a:srgbClr val="3E4C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1682496"/>
            <a:ext cx="3291840" cy="20116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https://estate.daidev.me/login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74920" y="1664208"/>
            <a:ext cx="1554480" cy="228600"/>
          </a:xfrm>
          <a:prstGeom prst="roundRect">
            <a:avLst>
              <a:gd name="adj" fmla="val 24000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664208"/>
            <a:ext cx="1554480" cy="2286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ZERO-TRUST GATEWAY</a:t>
            </a:r>
            <a:endParaRPr lang="en-US" sz="750" dirty="0"/>
          </a:p>
        </p:txBody>
      </p:sp>
      <p:pic>
        <p:nvPicPr>
          <p:cNvPr id="18" name="Image 0" descr="C:\Users\DELL\Downloads\slide\assets\screen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75104"/>
            <a:ext cx="5888736" cy="3986784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3584448" y="332549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06B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84448" y="3325490"/>
            <a:ext cx="329184" cy="32918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584448" y="4122847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84448" y="4122847"/>
            <a:ext cx="329184" cy="32918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584448" y="468099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84448" y="4680996"/>
            <a:ext cx="329184" cy="32918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949440" y="1572768"/>
            <a:ext cx="4510735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49440" y="157276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006B2C"/>
          </a:solidFill>
          <a:ln w="12700">
            <a:solidFill>
              <a:srgbClr val="006B2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14032" y="16824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6B2C"/>
          </a:solidFill>
          <a:ln w="12700">
            <a:solidFill>
              <a:srgbClr val="006B2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14032" y="1682496"/>
            <a:ext cx="292608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479792" y="1664208"/>
            <a:ext cx="3824935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Stateless JWT Lifecycle &amp; Claims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114032" y="1975104"/>
            <a:ext cx="4190695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HMAC-SHA256 signed tokens containing identity and roles. 15-minute access token paired with 30-day refresh token. Web Locks API (dxmt.refresh) prevents multi-tab token race conditions.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6949440" y="2532888"/>
            <a:ext cx="4510735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49440" y="253288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14032" y="264261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114032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479792" y="2624328"/>
            <a:ext cx="3824935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Two-Factor Authentication (2FA TOTP)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114032" y="2935224"/>
            <a:ext cx="4190695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RFC 6238 Time-based One-Time Password with 30-second rotation. Users scan QR code with Google Authenticator or Microsoft Authenticator, eliminating credential stuffing vulnerabilities.</a:t>
            </a:r>
            <a:endParaRPr lang="en-US" sz="820" dirty="0"/>
          </a:p>
        </p:txBody>
      </p:sp>
      <p:sp>
        <p:nvSpPr>
          <p:cNvPr id="37" name="Shape 34"/>
          <p:cNvSpPr/>
          <p:nvPr/>
        </p:nvSpPr>
        <p:spPr>
          <a:xfrm>
            <a:off x="6949440" y="3493008"/>
            <a:ext cx="4510735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949440" y="349300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114032" y="36027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14032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479792" y="3584448"/>
            <a:ext cx="3824935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Cryptographic Email OTP &amp; Bcrypt Hashing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7114032" y="3895344"/>
            <a:ext cx="4190695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6-digit OTP generated via SHA-256 and sent via Resend API for new devices. All passwords hashed with Bcrypt (10 salt rounds) with in-memory IP brute-force throttling.</a:t>
            </a:r>
            <a:endParaRPr lang="en-US" sz="820" dirty="0"/>
          </a:p>
        </p:txBody>
      </p:sp>
      <p:sp>
        <p:nvSpPr>
          <p:cNvPr id="43" name="Shape 40"/>
          <p:cNvSpPr/>
          <p:nvPr/>
        </p:nvSpPr>
        <p:spPr>
          <a:xfrm>
            <a:off x="6949440" y="4544568"/>
            <a:ext cx="4510735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114032" y="4636008"/>
            <a:ext cx="4181551" cy="23774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END-TO-END AUTHENTICATION FLOW: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7114032" y="489204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114032" y="4892040"/>
            <a:ext cx="219456" cy="21945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406640" y="4873752"/>
            <a:ext cx="3916375" cy="31089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submits username &amp; password -&gt; Bcrypt hashes verified -&gt; Rate limiter checks IP attempts.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7114032" y="523951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114032" y="5239512"/>
            <a:ext cx="219456" cy="21945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406640" y="5221224"/>
            <a:ext cx="3916375" cy="31089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2FA is active, server challenges with TOTP; alternatively dispatches 6-digit OTP via Resend.</a:t>
            </a:r>
            <a:endParaRPr lang="en-US" sz="820" dirty="0"/>
          </a:p>
        </p:txBody>
      </p:sp>
      <p:sp>
        <p:nvSpPr>
          <p:cNvPr id="51" name="Shape 48"/>
          <p:cNvSpPr/>
          <p:nvPr/>
        </p:nvSpPr>
        <p:spPr>
          <a:xfrm>
            <a:off x="7114032" y="558698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114032" y="5586984"/>
            <a:ext cx="219456" cy="21945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406640" y="5568696"/>
            <a:ext cx="3916375" cy="31089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issues access token (15m) + refresh token (30d); client stores securely in local storage.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PORTAL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28655" cy="47548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WORKSPACE: SYSTEM GOVERNANCE &amp; PROVISIONING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728655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control over personnel accounts, dynamic role assignment, security status, and system audit logs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17920"/>
            <a:ext cx="10728655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272784"/>
            <a:ext cx="6400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ĐẤT XANH MIỀN TRUNG • REGAL GROUP | ENTERPRISE CRM SYSTEM REVIEW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31375" y="6272784"/>
            <a:ext cx="1828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of 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572768"/>
            <a:ext cx="6035040" cy="4462272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645920"/>
            <a:ext cx="5888736" cy="292608"/>
          </a:xfrm>
          <a:prstGeom prst="roundRect">
            <a:avLst>
              <a:gd name="adj" fmla="val 18750"/>
            </a:avLst>
          </a:prstGeom>
          <a:solidFill>
            <a:srgbClr val="1E2923"/>
          </a:solidFill>
          <a:ln w="12700">
            <a:solidFill>
              <a:srgbClr val="1E29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737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1737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1737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1682496"/>
            <a:ext cx="3474720" cy="201168"/>
          </a:xfrm>
          <a:prstGeom prst="roundRect">
            <a:avLst>
              <a:gd name="adj" fmla="val 18182"/>
            </a:avLst>
          </a:prstGeom>
          <a:solidFill>
            <a:srgbClr val="2B3831"/>
          </a:solidFill>
          <a:ln w="6350">
            <a:solidFill>
              <a:srgbClr val="3E4C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1682496"/>
            <a:ext cx="3291840" cy="20116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https://estate.daidev.me/users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74920" y="1664208"/>
            <a:ext cx="1554480" cy="228600"/>
          </a:xfrm>
          <a:prstGeom prst="roundRect">
            <a:avLst>
              <a:gd name="adj" fmla="val 24000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664208"/>
            <a:ext cx="1554480" cy="2286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SUPERUSER PRIVILEGE</a:t>
            </a:r>
            <a:endParaRPr lang="en-US" sz="750" dirty="0"/>
          </a:p>
        </p:txBody>
      </p:sp>
      <p:pic>
        <p:nvPicPr>
          <p:cNvPr id="18" name="Image 0" descr="C:\Users\DELL\Downloads\slide\assets\screen_admi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75104"/>
            <a:ext cx="5888736" cy="3986784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1464503" y="280720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06B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64503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22168" y="26876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22168" y="2687604"/>
            <a:ext cx="329184" cy="32918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702223" y="38836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02223" y="3883640"/>
            <a:ext cx="329184" cy="32918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949440" y="1572768"/>
            <a:ext cx="4510735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49440" y="157276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006B2C"/>
          </a:solidFill>
          <a:ln w="12700">
            <a:solidFill>
              <a:srgbClr val="006B2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14032" y="16824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6B2C"/>
          </a:solidFill>
          <a:ln w="12700">
            <a:solidFill>
              <a:srgbClr val="006B2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14032" y="1682496"/>
            <a:ext cx="292608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479792" y="1664208"/>
            <a:ext cx="3824935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Role-Based Navigation Menu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114032" y="1975104"/>
            <a:ext cx="4190695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Sidebar dynamically renders Admin-exclusive modules: User Management (/users), System Logs, and Global Reports, strictly filtered by user authorities.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6949440" y="2532888"/>
            <a:ext cx="4510735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49440" y="253288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14032" y="264261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114032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479792" y="2624328"/>
            <a:ext cx="3824935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Onboarding &amp; Role Granting Button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114032" y="2935224"/>
            <a:ext cx="4190695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Initiates employee creation modal to assign roles (ADMIN, MANAGER, SALES), bind branch departments, and trigger automatic welcome invite emails via Resend.</a:t>
            </a:r>
            <a:endParaRPr lang="en-US" sz="820" dirty="0"/>
          </a:p>
        </p:txBody>
      </p:sp>
      <p:sp>
        <p:nvSpPr>
          <p:cNvPr id="37" name="Shape 34"/>
          <p:cNvSpPr/>
          <p:nvPr/>
        </p:nvSpPr>
        <p:spPr>
          <a:xfrm>
            <a:off x="6949440" y="3493008"/>
            <a:ext cx="4510735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949440" y="349300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114032" y="36027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14032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479792" y="3584448"/>
            <a:ext cx="3824935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Registry &amp; Security Audit Table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7114032" y="3895344"/>
            <a:ext cx="4190695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Displays active 2FA status, last login timestamps, assigned branch, and instant lock/unlock switch to freeze accounts upon suspicious activity.</a:t>
            </a:r>
            <a:endParaRPr lang="en-US" sz="820" dirty="0"/>
          </a:p>
        </p:txBody>
      </p:sp>
      <p:sp>
        <p:nvSpPr>
          <p:cNvPr id="43" name="Shape 40"/>
          <p:cNvSpPr/>
          <p:nvPr/>
        </p:nvSpPr>
        <p:spPr>
          <a:xfrm>
            <a:off x="6949440" y="4544568"/>
            <a:ext cx="4510735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114032" y="4636008"/>
            <a:ext cx="4181551" cy="23774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STANDARD ADMIN OPERATIONAL WORKFLOW: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7114032" y="489204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114032" y="4892040"/>
            <a:ext cx="219456" cy="21945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406640" y="4873752"/>
            <a:ext cx="3916375" cy="31089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via master admin credentials (admin / Anhdaidtr04@) with mandatory 2FA security validation.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7114032" y="523951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114032" y="5239512"/>
            <a:ext cx="219456" cy="21945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406640" y="5221224"/>
            <a:ext cx="3916375" cy="31089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Navigate to User Management (/users) -&gt; Provision new real estate consultant &amp; assign branch.</a:t>
            </a:r>
            <a:endParaRPr lang="en-US" sz="820" dirty="0"/>
          </a:p>
        </p:txBody>
      </p:sp>
      <p:sp>
        <p:nvSpPr>
          <p:cNvPr id="51" name="Shape 48"/>
          <p:cNvSpPr/>
          <p:nvPr/>
        </p:nvSpPr>
        <p:spPr>
          <a:xfrm>
            <a:off x="7114032" y="558698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114032" y="5586984"/>
            <a:ext cx="219456" cy="21945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406640" y="5568696"/>
            <a:ext cx="3916375" cy="31089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aggregated sales analytics &amp; inspect system audit logs for unauthorized data modifications.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PORTAL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28655" cy="47548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WORKSPACE: PROJECT INVENTORY &amp; APPROVALS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728655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Supervising Regal Group project baskets, locking apartment inventory, and validating reservation deposits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17920"/>
            <a:ext cx="10728655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272784"/>
            <a:ext cx="6400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ĐẤT XANH MIỀN TRUNG • REGAL GROUP | ENTERPRISE CRM SYSTEM REVIEW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31375" y="6272784"/>
            <a:ext cx="1828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of 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572768"/>
            <a:ext cx="6035040" cy="4462272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645920"/>
            <a:ext cx="5888736" cy="292608"/>
          </a:xfrm>
          <a:prstGeom prst="roundRect">
            <a:avLst>
              <a:gd name="adj" fmla="val 18750"/>
            </a:avLst>
          </a:prstGeom>
          <a:solidFill>
            <a:srgbClr val="1E2923"/>
          </a:solidFill>
          <a:ln w="12700">
            <a:solidFill>
              <a:srgbClr val="1E29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737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1737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1737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1682496"/>
            <a:ext cx="3474720" cy="201168"/>
          </a:xfrm>
          <a:prstGeom prst="roundRect">
            <a:avLst>
              <a:gd name="adj" fmla="val 18182"/>
            </a:avLst>
          </a:prstGeom>
          <a:solidFill>
            <a:srgbClr val="2B3831"/>
          </a:solidFill>
          <a:ln w="6350">
            <a:solidFill>
              <a:srgbClr val="3E4C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1682496"/>
            <a:ext cx="3291840" cy="20116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https://estate.daidev.me/projects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74920" y="1664208"/>
            <a:ext cx="1554480" cy="228600"/>
          </a:xfrm>
          <a:prstGeom prst="roundRect">
            <a:avLst>
              <a:gd name="adj" fmla="val 24000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664208"/>
            <a:ext cx="1554480" cy="2286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&amp; DEAL CONTROL</a:t>
            </a:r>
            <a:endParaRPr lang="en-US" sz="750" dirty="0"/>
          </a:p>
        </p:txBody>
      </p:sp>
      <p:pic>
        <p:nvPicPr>
          <p:cNvPr id="18" name="Image 0" descr="C:\Users\DELL\Downloads\slide\assets\screen_pro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75104"/>
            <a:ext cx="5888736" cy="3986784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2406701" y="3086283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06B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06701" y="3086283"/>
            <a:ext cx="329184" cy="32918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62195" y="3604565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62195" y="3604565"/>
            <a:ext cx="329184" cy="32918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01138" y="49202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01138" y="4920204"/>
            <a:ext cx="329184" cy="32918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949440" y="1572768"/>
            <a:ext cx="4510735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49440" y="157276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006B2C"/>
          </a:solidFill>
          <a:ln w="12700">
            <a:solidFill>
              <a:srgbClr val="006B2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14032" y="16824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6B2C"/>
          </a:solidFill>
          <a:ln w="12700">
            <a:solidFill>
              <a:srgbClr val="006B2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14032" y="1682496"/>
            <a:ext cx="292608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479792" y="1664208"/>
            <a:ext cx="3824935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Regal Group Mega-Project Catalog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114032" y="1975104"/>
            <a:ext cx="4190695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overview of 6 key enterprise projects: Regal Legend Quang Binh, Regal Complex Da Nang, Regal Victoria, and Regal Maison Phu Yen with real-time sales progress.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6949440" y="2532888"/>
            <a:ext cx="4510735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49440" y="253288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14032" y="264261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114032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479792" y="2624328"/>
            <a:ext cx="3824935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Apartment Inventory Matrix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114032" y="2935224"/>
            <a:ext cx="4190695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Color-coded unit status: Available (Green), Priority Booking (Amber), Deposited (Blue), and Contract Signed (Gray). Completely prevents double-booking across agencies.</a:t>
            </a:r>
            <a:endParaRPr lang="en-US" sz="820" dirty="0"/>
          </a:p>
        </p:txBody>
      </p:sp>
      <p:sp>
        <p:nvSpPr>
          <p:cNvPr id="37" name="Shape 34"/>
          <p:cNvSpPr/>
          <p:nvPr/>
        </p:nvSpPr>
        <p:spPr>
          <a:xfrm>
            <a:off x="6949440" y="3493008"/>
            <a:ext cx="4510735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949440" y="349300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114032" y="36027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14032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479792" y="3584448"/>
            <a:ext cx="3824935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Booking &amp; Deposit Approval Center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7114032" y="3895344"/>
            <a:ext cx="4190695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Inspects and authorizes 50M-100M VND reservation vouchers submitted by sales consultants, locking units and progressing deals to formal SPA signing.</a:t>
            </a:r>
            <a:endParaRPr lang="en-US" sz="820" dirty="0"/>
          </a:p>
        </p:txBody>
      </p:sp>
      <p:sp>
        <p:nvSpPr>
          <p:cNvPr id="43" name="Shape 40"/>
          <p:cNvSpPr/>
          <p:nvPr/>
        </p:nvSpPr>
        <p:spPr>
          <a:xfrm>
            <a:off x="6949440" y="4544568"/>
            <a:ext cx="4510735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114032" y="4636008"/>
            <a:ext cx="4181551" cy="23774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STANDARD MANAGER OPERATIONAL WORKFLOW: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7114032" y="489204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114032" y="4892040"/>
            <a:ext cx="219456" cy="21945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406640" y="4873752"/>
            <a:ext cx="3916375" cy="31089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 as Sales Supervisor (leminhtri / Anhdaidtr04@) to access division command center.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7114032" y="523951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114032" y="5239512"/>
            <a:ext cx="219456" cy="21945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406640" y="5221224"/>
            <a:ext cx="3916375" cy="31089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incoming customer leads and assign to sales consultants based on territory quotas.</a:t>
            </a:r>
            <a:endParaRPr lang="en-US" sz="820" dirty="0"/>
          </a:p>
        </p:txBody>
      </p:sp>
      <p:sp>
        <p:nvSpPr>
          <p:cNvPr id="51" name="Shape 48"/>
          <p:cNvSpPr/>
          <p:nvPr/>
        </p:nvSpPr>
        <p:spPr>
          <a:xfrm>
            <a:off x="7114032" y="558698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114032" y="5586984"/>
            <a:ext cx="219456" cy="21945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406640" y="5568696"/>
            <a:ext cx="3916375" cy="31089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project inventory table -&gt; Verify deposit bank receipt -&gt; Approve official unit locking.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WORKSPACE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28655" cy="47548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WORKSPACE: LEAD PIPELINE &amp; CLIENT CONVERSION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728655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client portfolio, smart property matching, site-visit appointment scheduling, and deal creation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17920"/>
            <a:ext cx="10728655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272784"/>
            <a:ext cx="6400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ĐẤT XANH MIỀN TRUNG • REGAL GROUP | ENTERPRISE CRM SYSTEM REVIEW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31375" y="6272784"/>
            <a:ext cx="1828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of 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572768"/>
            <a:ext cx="6035040" cy="4462272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645920"/>
            <a:ext cx="5888736" cy="292608"/>
          </a:xfrm>
          <a:prstGeom prst="roundRect">
            <a:avLst>
              <a:gd name="adj" fmla="val 18750"/>
            </a:avLst>
          </a:prstGeom>
          <a:solidFill>
            <a:srgbClr val="1E2923"/>
          </a:solidFill>
          <a:ln w="12700">
            <a:solidFill>
              <a:srgbClr val="1E29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737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1737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1737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1682496"/>
            <a:ext cx="3474720" cy="201168"/>
          </a:xfrm>
          <a:prstGeom prst="roundRect">
            <a:avLst>
              <a:gd name="adj" fmla="val 18182"/>
            </a:avLst>
          </a:prstGeom>
          <a:solidFill>
            <a:srgbClr val="2B3831"/>
          </a:solidFill>
          <a:ln w="6350">
            <a:solidFill>
              <a:srgbClr val="3E4C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1682496"/>
            <a:ext cx="3291840" cy="20116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https://estate.daidev.me/customers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74920" y="1664208"/>
            <a:ext cx="1554480" cy="228600"/>
          </a:xfrm>
          <a:prstGeom prst="roundRect">
            <a:avLst>
              <a:gd name="adj" fmla="val 24000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664208"/>
            <a:ext cx="1554480" cy="2286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FUNNEL AUTOMATION</a:t>
            </a:r>
            <a:endParaRPr lang="en-US" sz="750" dirty="0"/>
          </a:p>
        </p:txBody>
      </p:sp>
      <p:pic>
        <p:nvPicPr>
          <p:cNvPr id="18" name="Image 0" descr="C:\Users\DELL\Downloads\slide\assets\screen_custom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75104"/>
            <a:ext cx="5888736" cy="3986784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2524476" y="26876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06B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24476" y="2687604"/>
            <a:ext cx="329184" cy="32918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56632" y="332549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56632" y="3325490"/>
            <a:ext cx="329184" cy="32918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22168" y="4003243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22168" y="4003243"/>
            <a:ext cx="329184" cy="32918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949440" y="1572768"/>
            <a:ext cx="4510735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49440" y="157276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006B2C"/>
          </a:solidFill>
          <a:ln w="12700">
            <a:solidFill>
              <a:srgbClr val="006B2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14032" y="16824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6B2C"/>
          </a:solidFill>
          <a:ln w="12700">
            <a:solidFill>
              <a:srgbClr val="006B2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14032" y="1682496"/>
            <a:ext cx="292608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479792" y="1664208"/>
            <a:ext cx="3824935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Customer Segmentation Filters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114032" y="1975104"/>
            <a:ext cx="4190695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Quickly filters leads by criteria: VIP Investors, Residential Buyers, Speculative Flippers, and budget tiers from 3B VND up to over 20B VND.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6949440" y="2532888"/>
            <a:ext cx="4510735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49440" y="253288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14032" y="264261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114032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479792" y="2624328"/>
            <a:ext cx="3824935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Model &amp; Site-Visit Appointments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114032" y="2935224"/>
            <a:ext cx="4190695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Schedules physical tours to Regal Legend / Regal Victoria construction sites. Automatically triggers calendar invites and email reminders via Resend API.</a:t>
            </a:r>
            <a:endParaRPr lang="en-US" sz="820" dirty="0"/>
          </a:p>
        </p:txBody>
      </p:sp>
      <p:sp>
        <p:nvSpPr>
          <p:cNvPr id="37" name="Shape 34"/>
          <p:cNvSpPr/>
          <p:nvPr/>
        </p:nvSpPr>
        <p:spPr>
          <a:xfrm>
            <a:off x="6949440" y="3493008"/>
            <a:ext cx="4510735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949440" y="349300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114032" y="36027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14032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479792" y="3584448"/>
            <a:ext cx="3824935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 Generation &amp; Financial Amortization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7114032" y="3895344"/>
            <a:ext cx="4190695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real estate booking tickets with instant payment milestone schedules, 0% interest bank subsidies, and commission calculation projections.</a:t>
            </a:r>
            <a:endParaRPr lang="en-US" sz="820" dirty="0"/>
          </a:p>
        </p:txBody>
      </p:sp>
      <p:sp>
        <p:nvSpPr>
          <p:cNvPr id="43" name="Shape 40"/>
          <p:cNvSpPr/>
          <p:nvPr/>
        </p:nvSpPr>
        <p:spPr>
          <a:xfrm>
            <a:off x="6949440" y="4544568"/>
            <a:ext cx="4510735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114032" y="4636008"/>
            <a:ext cx="4181551" cy="23774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STANDARD SALES OPERATIONAL WORKFLOW: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7114032" y="489204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114032" y="4892040"/>
            <a:ext cx="219456" cy="21945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406640" y="4873752"/>
            <a:ext cx="3916375" cy="31089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as Property Consultant (tranbaongoc / Anhdaidtr04@) to inspect personal daily lead queue.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7114032" y="523951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114032" y="5239512"/>
            <a:ext cx="219456" cy="21945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406640" y="5221224"/>
            <a:ext cx="3916375" cy="31089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Conduct initial discovery phone call within 15 minutes of assignment; record notes in dossier.</a:t>
            </a:r>
            <a:endParaRPr lang="en-US" sz="820" dirty="0"/>
          </a:p>
        </p:txBody>
      </p:sp>
      <p:sp>
        <p:nvSpPr>
          <p:cNvPr id="51" name="Shape 48"/>
          <p:cNvSpPr/>
          <p:nvPr/>
        </p:nvSpPr>
        <p:spPr>
          <a:xfrm>
            <a:off x="7114032" y="558698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114032" y="5586984"/>
            <a:ext cx="219456" cy="21945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406640" y="5568696"/>
            <a:ext cx="3916375" cy="31089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project showroom visit -&gt; Select preferred unit -&gt; Submit booking ticket for manager approval.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CARE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28655" cy="47548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CARE: 360° MULTI-CHANNEL INTERACTION LOGS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728655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Visualizing 5 stretched KPI metrics (100% full width) and maintaining unalterable chronological interaction records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17920"/>
            <a:ext cx="10728655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272784"/>
            <a:ext cx="6400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ĐẤT XANH MIỀN TRUNG • REGAL GROUP | ENTERPRISE CRM SYSTEM REVIEW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31375" y="6272784"/>
            <a:ext cx="1828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 of 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572768"/>
            <a:ext cx="6035040" cy="4462272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645920"/>
            <a:ext cx="5888736" cy="292608"/>
          </a:xfrm>
          <a:prstGeom prst="roundRect">
            <a:avLst>
              <a:gd name="adj" fmla="val 18750"/>
            </a:avLst>
          </a:prstGeom>
          <a:solidFill>
            <a:srgbClr val="1E2923"/>
          </a:solidFill>
          <a:ln w="12700">
            <a:solidFill>
              <a:srgbClr val="1E29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737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1737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1737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1682496"/>
            <a:ext cx="3474720" cy="201168"/>
          </a:xfrm>
          <a:prstGeom prst="roundRect">
            <a:avLst>
              <a:gd name="adj" fmla="val 18182"/>
            </a:avLst>
          </a:prstGeom>
          <a:solidFill>
            <a:srgbClr val="2B3831"/>
          </a:solidFill>
          <a:ln w="6350">
            <a:solidFill>
              <a:srgbClr val="3E4C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1682496"/>
            <a:ext cx="3291840" cy="20116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https://estate.daidev.me/customer-cares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74920" y="1664208"/>
            <a:ext cx="1554480" cy="228600"/>
          </a:xfrm>
          <a:prstGeom prst="roundRect">
            <a:avLst>
              <a:gd name="adj" fmla="val 24000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664208"/>
            <a:ext cx="1554480" cy="2286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360° AUDIT TRAIL</a:t>
            </a:r>
            <a:endParaRPr lang="en-US" sz="750" dirty="0"/>
          </a:p>
        </p:txBody>
      </p:sp>
      <p:pic>
        <p:nvPicPr>
          <p:cNvPr id="18" name="Image 0" descr="C:\Users\DELL\Downloads\slide\assets\screen_customer_ca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75104"/>
            <a:ext cx="5888736" cy="3986784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3584448" y="2528133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06B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84448" y="2528133"/>
            <a:ext cx="329184" cy="32918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524476" y="38836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24476" y="3883640"/>
            <a:ext cx="329184" cy="32918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233294" y="480060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33294" y="4800600"/>
            <a:ext cx="329184" cy="32918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949440" y="1572768"/>
            <a:ext cx="4510735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49440" y="157276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006B2C"/>
          </a:solidFill>
          <a:ln w="12700">
            <a:solidFill>
              <a:srgbClr val="006B2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14032" y="16824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6B2C"/>
          </a:solidFill>
          <a:ln w="12700">
            <a:solidFill>
              <a:srgbClr val="006B2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14032" y="1682496"/>
            <a:ext cx="292608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479792" y="1664208"/>
            <a:ext cx="3824935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Stretched KPI Cards (100% Full Width)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114032" y="1975104"/>
            <a:ext cx="4190695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CSS Grid (repeat(5, minmax(0, 1fr))) balancing metrics: Total Care Activities, Phone Calls, In-Person Meetings, Sent Emails, and Internal Notes without clipping.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6949440" y="2532888"/>
            <a:ext cx="4510735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49440" y="253288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14032" y="264261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114032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479792" y="2624328"/>
            <a:ext cx="3824935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360-Degree Multi-Channel Care Timeline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114032" y="2935224"/>
            <a:ext cx="4190695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phone consultation, office meeting, sent quotation, or customer feedback note is timestamped in real-time, guaranteeing seamless handover when consultants rotate.</a:t>
            </a:r>
            <a:endParaRPr lang="en-US" sz="820" dirty="0"/>
          </a:p>
        </p:txBody>
      </p:sp>
      <p:sp>
        <p:nvSpPr>
          <p:cNvPr id="37" name="Shape 34"/>
          <p:cNvSpPr/>
          <p:nvPr/>
        </p:nvSpPr>
        <p:spPr>
          <a:xfrm>
            <a:off x="6949440" y="3493008"/>
            <a:ext cx="4510735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949440" y="349300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114032" y="36027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14032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479792" y="3584448"/>
            <a:ext cx="3824935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Sentiment &amp; Engagement Rating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7114032" y="3895344"/>
            <a:ext cx="4190695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Categorizes client engagement: Highly enthusiastic for lake-view shophouse, hesitant on installment speed, enabling timely manager policy interventions.</a:t>
            </a:r>
            <a:endParaRPr lang="en-US" sz="820" dirty="0"/>
          </a:p>
        </p:txBody>
      </p:sp>
      <p:sp>
        <p:nvSpPr>
          <p:cNvPr id="43" name="Shape 40"/>
          <p:cNvSpPr/>
          <p:nvPr/>
        </p:nvSpPr>
        <p:spPr>
          <a:xfrm>
            <a:off x="6949440" y="4544568"/>
            <a:ext cx="4510735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114032" y="4636008"/>
            <a:ext cx="4181551" cy="23774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ENTERPRISE CUSTOMER CARE BENEFIT: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7114032" y="489204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114032" y="4892040"/>
            <a:ext cx="219456" cy="21945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406640" y="4873752"/>
            <a:ext cx="3916375" cy="31089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Consultant logs interaction details immediately following calls, meetings, or site tours.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7114032" y="523951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114032" y="5239512"/>
            <a:ext cx="219456" cy="21945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406640" y="5221224"/>
            <a:ext cx="3916375" cy="31089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links notes directly to customer UUID in customer_db with UTC timestamps.</a:t>
            </a:r>
            <a:endParaRPr lang="en-US" sz="820" dirty="0"/>
          </a:p>
        </p:txBody>
      </p:sp>
      <p:sp>
        <p:nvSpPr>
          <p:cNvPr id="51" name="Shape 48"/>
          <p:cNvSpPr/>
          <p:nvPr/>
        </p:nvSpPr>
        <p:spPr>
          <a:xfrm>
            <a:off x="7114032" y="558698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114032" y="5586984"/>
            <a:ext cx="219456" cy="21945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406640" y="5568696"/>
            <a:ext cx="3916375" cy="310896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staff leaves or reassigns, 100% of relationship history remains intact for the successor.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28655" cy="47548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REAL ESTATE TRANSACTION LIFECYCLE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728655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Standardized 5-stage pipeline from marketing lead qualification to SPA contract execution and commission settlement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17920"/>
            <a:ext cx="10728655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272784"/>
            <a:ext cx="6400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ĐẤT XANH MIỀN TRUNG • REGAL GROUP | ENTERPRISE CRM SYSTEM REVIEW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31375" y="6272784"/>
            <a:ext cx="1828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 of 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664208"/>
            <a:ext cx="1965960" cy="4297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801368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006B2C"/>
          </a:solidFill>
          <a:ln w="12700">
            <a:solidFill>
              <a:srgbClr val="006B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53312" y="1865376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EAF7F1"/>
          </a:solidFill>
          <a:ln w="6350">
            <a:solidFill>
              <a:srgbClr val="006B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1865376"/>
            <a:ext cx="1207008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1: Lead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" y="2322576"/>
            <a:ext cx="1691640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Capture &amp; Qualification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2807208"/>
            <a:ext cx="1691640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926080"/>
            <a:ext cx="1691640" cy="28346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Ingestion from Landing Page, Ads, Showroom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15-minute SLA consultant phone outreach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Budget qualification (3B - 20B+ VND)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Preferred project &amp; view selection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734056" y="3721608"/>
            <a:ext cx="146304" cy="164592"/>
          </a:xfrm>
          <a:prstGeom prst="rightArrow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16936" y="1664208"/>
            <a:ext cx="1965960" cy="4297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54096" y="1801368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54096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38728" y="1865376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EAF7F1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38728" y="1865376"/>
            <a:ext cx="1207008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2: Hold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054096" y="2322576"/>
            <a:ext cx="1691640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Unit Booking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54096" y="2807208"/>
            <a:ext cx="1691640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096" y="2926080"/>
            <a:ext cx="1691640" cy="28346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Client selects specific villa/shophouse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50M - 100M VND refundable hold deposit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Unit temporarily locked on inventory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Prevents simultaneous external agency booking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919472" y="3721608"/>
            <a:ext cx="146304" cy="164592"/>
          </a:xfrm>
          <a:prstGeom prst="rightArrow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02352" y="1664208"/>
            <a:ext cx="1965960" cy="4297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39512" y="1801368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9512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24144" y="1865376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EAF7F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24144" y="1865376"/>
            <a:ext cx="1207008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3: Deposit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239512" y="2322576"/>
            <a:ext cx="1691640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Deposit Confirmation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239512" y="2807208"/>
            <a:ext cx="1691640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9512" y="2926080"/>
            <a:ext cx="1691640" cy="28346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Goodwill hold converted to formal deposit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Sales Manager verifies banking receipt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Unit permanently transitioned to DEPOSITED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Deposit contract dispatched via Resend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7104888" y="3721608"/>
            <a:ext cx="146304" cy="164592"/>
          </a:xfrm>
          <a:prstGeom prst="rightArrow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87768" y="1664208"/>
            <a:ext cx="1965960" cy="4297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24928" y="1801368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24928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909560" y="1865376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EAF7F1"/>
          </a:solidFill>
          <a:ln w="6350">
            <a:solidFill>
              <a:srgbClr val="0284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09560" y="1865376"/>
            <a:ext cx="1207008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4: Legal SPA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424928" y="2322576"/>
            <a:ext cx="1691640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 Contract Execution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424928" y="2807208"/>
            <a:ext cx="1691640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24928" y="2926080"/>
            <a:ext cx="1691640" cy="28346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Sales &amp; Purchase Agreement signed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7 - 10 installment milestone schedules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Bank partnership 0% interest loan bind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overdue payment notifications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9290304" y="3721608"/>
            <a:ext cx="146304" cy="164592"/>
          </a:xfrm>
          <a:prstGeom prst="rightArrow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473184" y="1664208"/>
            <a:ext cx="1965960" cy="4297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10344" y="1801368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006B2C"/>
          </a:solidFill>
          <a:ln w="12700">
            <a:solidFill>
              <a:srgbClr val="006B2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10344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0094976" y="1865376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EAF7F1"/>
          </a:solidFill>
          <a:ln w="6350">
            <a:solidFill>
              <a:srgbClr val="006B2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94976" y="1865376"/>
            <a:ext cx="1207008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5: Settlement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9610344" y="2322576"/>
            <a:ext cx="1691640" cy="43891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Commission &amp; Title Handover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610344" y="2807208"/>
            <a:ext cx="1691640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10344" y="2926080"/>
            <a:ext cx="1691640" cy="28346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System auto-calculates 1.5% - 2.5% commission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Manager override compensation calculated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Villa physical inspection &amp; snagging</a:t>
            </a:r>
            <a:endParaRPr lang="en-US" sz="82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Official Pink Book (title deed) handover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28655" cy="47548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INFRASTRUCTURE CONSTRAINTS &amp; ENGINEERING SOLUTIONS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728655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technical audit of Render Free Tier boundaries and production-grade engineering trade-offs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17920"/>
            <a:ext cx="10728655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272784"/>
            <a:ext cx="6400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ĐẤT XANH MIỀN TRUNG • REGAL GROUP | ENTERPRISE CRM SYSTEM REVIEW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31375" y="6272784"/>
            <a:ext cx="1828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 of 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664208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CONSTRAINTS OF RENDER FREE PLAN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4663440" cy="34747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Managed Kafka / RabbitMQ: Distributed Kafka brokers demand KRaft/Zookeeper and 2-4GB RAM, exceeding Render free 512MB RAM cap.</a:t>
            </a:r>
            <a:endParaRPr lang="en-US" sz="880" dirty="0"/>
          </a:p>
          <a:p>
            <a:pPr algn="l" indent="0" marL="0">
              <a:lnSpc>
                <a:spcPts val="1500"/>
              </a:lnSpc>
              <a:buNone/>
            </a:pPr>
            <a:endParaRPr lang="en-US" sz="88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Persistent Redis Cluster: Managed cloud Redis services require paid credit card tiers and incur ongoing maintenance costs.</a:t>
            </a:r>
            <a:endParaRPr lang="en-US" sz="880" dirty="0"/>
          </a:p>
          <a:p>
            <a:pPr algn="l" indent="0" marL="0">
              <a:lnSpc>
                <a:spcPts val="1500"/>
              </a:lnSpc>
              <a:buNone/>
            </a:pPr>
            <a:endParaRPr lang="en-US" sz="88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Free Tier Cold-Start Inactivity: Services spin down into sleep mode after 15 minutes of idle time, introducing ~40-45s wake-up latency on first request.</a:t>
            </a:r>
            <a:endParaRPr lang="en-US" sz="880" dirty="0"/>
          </a:p>
          <a:p>
            <a:pPr algn="l" indent="0" marL="0">
              <a:lnSpc>
                <a:spcPts val="1500"/>
              </a:lnSpc>
              <a:buNone/>
            </a:pPr>
            <a:endParaRPr lang="en-US" sz="88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Render SMTP Port Blocking: Outbound ports 25, 465, and 587 are blocked at network firewall level to prevent automated spam abuse.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248095" y="1664208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EAF7F1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2415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ENGINEERING WORKAROUNDS IMPLEMENTED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22415" y="2286000"/>
            <a:ext cx="4663440" cy="34747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Internal Event-Driven Spring Engine: Replaced external Kafka broker with native ApplicationEventPublisher and asynchronous @Async thread pools.</a:t>
            </a:r>
            <a:endParaRPr lang="en-US" sz="880" dirty="0"/>
          </a:p>
          <a:p>
            <a:pPr algn="l" indent="0" marL="0">
              <a:lnSpc>
                <a:spcPts val="1500"/>
              </a:lnSpc>
              <a:buNone/>
            </a:pPr>
            <a:endParaRPr lang="en-US" sz="88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In-Memory Caffeine Cache: High-speed JVM caching providing sub-millisecond lookups for login attempts without external Redis dependencies.</a:t>
            </a:r>
            <a:endParaRPr lang="en-US" sz="880" dirty="0"/>
          </a:p>
          <a:p>
            <a:pPr algn="l" indent="0" marL="0">
              <a:lnSpc>
                <a:spcPts val="1500"/>
              </a:lnSpc>
              <a:buNone/>
            </a:pPr>
            <a:endParaRPr lang="en-US" sz="88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Frontend Axios Cold-Start Absorber: Client-side retry interceptor automatically retries HTTP 502/503/504 errors up to 6×10s without dropping state.</a:t>
            </a:r>
            <a:endParaRPr lang="en-US" sz="880" dirty="0"/>
          </a:p>
          <a:p>
            <a:pPr algn="l" indent="0" marL="0">
              <a:lnSpc>
                <a:spcPts val="1500"/>
              </a:lnSpc>
              <a:buNone/>
            </a:pPr>
            <a:endParaRPr lang="en-US" sz="88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Resend HTTP REST API Integration: Operates strictly over HTTPS Port 443 REST calls, completely impervious to SMTP network port blocks.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EXPANSION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28655" cy="47548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EXPANSION: LIGHTWEIGHT AI ASSISTANT ON RENDER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728655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blueprint: Lightweight Spring AI REST client running on Render without RAM overflow (OOM)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17920"/>
            <a:ext cx="10728655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272784"/>
            <a:ext cx="6400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ĐẤT XANH MIỀN TRUNG • REGAL GROUP | ENTERPRISE CRM SYSTEM REVIEW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31375" y="6272784"/>
            <a:ext cx="1828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 of 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664208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801368"/>
            <a:ext cx="31546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 w="9525">
            <a:solidFill>
              <a:srgbClr val="006B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01368"/>
            <a:ext cx="3063240" cy="38404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• Serverless LLM Client via REST API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896112" y="2258568"/>
            <a:ext cx="3099816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Architecture: Zero JVM RAM Bloat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96112" y="2560320"/>
            <a:ext cx="3099816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715768"/>
            <a:ext cx="3099816" cy="292608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Lightweight Spring HTTP REST client invoking Google Gemini 1.5 Flash or OpenAI API.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heavy neural model weights loaded into Java memory; RAM usage remains safely under 280MB.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Streaming response tokens via Server-Sent Events (SSE) directly to React 19 UI.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compliant with Render Free Tier (512MB RAM cap) with zero OOM crash risks.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79976" y="1664208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17136" y="1801368"/>
            <a:ext cx="31546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2856" y="1801368"/>
            <a:ext cx="3063240" cy="38404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• RAG on Supabase pgvector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544568" y="2258568"/>
            <a:ext cx="3099816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Architecture: Accurate Property Data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44568" y="2560320"/>
            <a:ext cx="3099816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4568" y="2715768"/>
            <a:ext cx="3099816" cy="292608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Regal Group project master plans, zoning permits, and price lists stored as vector embeddings in Supabase.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Natural language inquiries ("Which ocean-view villa is available under 15 billion VND?") query pgvector.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RAG provides verified context to LLM, completely preventing real estate hallucination.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additional database costs by leveraging existing Supabase PostgreSQL instance.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28432" y="1664208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65592" y="1801368"/>
            <a:ext cx="31546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11312" y="1801368"/>
            <a:ext cx="3063240" cy="38404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• Automated Care Drafts &amp; Workflow Bot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193024" y="2258568"/>
            <a:ext cx="3099816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Architecture: Sales Productivity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193024" y="2560320"/>
            <a:ext cx="3099816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93024" y="2715768"/>
            <a:ext cx="3099816" cy="292608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synthesis of customer follow-up email drafts based on past customer_cares logs.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Instant Telegram Bot notifications alerting managers when high-intent VIP investors register.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Predictive lead scoring algorithms ranking conversion probability from customer interaction frequency.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Frees up 60% of sales consultants routine administrative paperwork time.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VALUE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28655" cy="47548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BUSINESS IMPACT &amp; VALUE DELIVERY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728655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Quantifiable operational efficiency, revenue acceleration, and customer relationship asset protection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17920"/>
            <a:ext cx="10728655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272784"/>
            <a:ext cx="6400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ĐẤT XANH MIỀN TRUNG • REGAL GROUP | ENTERPRISE CRM SYSTEM REVIEW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31375" y="6272784"/>
            <a:ext cx="1828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 of 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664208"/>
            <a:ext cx="2523744" cy="4297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801368"/>
            <a:ext cx="2249424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006B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847088"/>
            <a:ext cx="2249424" cy="4572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68680" y="2304288"/>
            <a:ext cx="2249424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Velocity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96112" y="2807208"/>
            <a:ext cx="2194560" cy="3200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Accelerated Booking Cycle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" y="3200400"/>
            <a:ext cx="2194560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328416"/>
            <a:ext cx="2194560" cy="246888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Reduces property hold and deposit confirmation cycle from several hours down to under 3 minutes via real-time inventory matrix and online payment verification.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465576" y="1664208"/>
            <a:ext cx="2523744" cy="4297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02736" y="1801368"/>
            <a:ext cx="2249424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02736" y="1847088"/>
            <a:ext cx="2249424" cy="4572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602736" y="2304288"/>
            <a:ext cx="2249424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Transparency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30168" y="2807208"/>
            <a:ext cx="2194560" cy="3200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Double-Selling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30168" y="3200400"/>
            <a:ext cx="2194560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3328416"/>
            <a:ext cx="2194560" cy="246888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live property baskets eliminate accidental double-booking of prime shophouses/villas across both internal sales teams and external brokerage partners.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199632" y="1664208"/>
            <a:ext cx="2523744" cy="4297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1801368"/>
            <a:ext cx="2249424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1847088"/>
            <a:ext cx="2249424" cy="4572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336792" y="2304288"/>
            <a:ext cx="2249424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Reduction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64224" y="2807208"/>
            <a:ext cx="2194560" cy="3200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Data Asset Protection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64224" y="3200400"/>
            <a:ext cx="2194560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4224" y="3328416"/>
            <a:ext cx="2194560" cy="246888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Centralizes customer dossiers and conversation logs in company-owned encrypted databases, completely preventing client data loss when brokers resign.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8933688" y="1664208"/>
            <a:ext cx="2523744" cy="4297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70848" y="1801368"/>
            <a:ext cx="2249424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70848" y="1847088"/>
            <a:ext cx="2249424" cy="4572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070848" y="2304288"/>
            <a:ext cx="2249424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Cost Elimination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098280" y="2807208"/>
            <a:ext cx="2194560" cy="3200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Software License Fees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98280" y="3200400"/>
            <a:ext cx="2194560" cy="9144"/>
          </a:xfrm>
          <a:prstGeom prst="line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98280" y="3328416"/>
            <a:ext cx="2194560" cy="246888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expensive monthly SaaS licensing fees (e.g. Salesforce / HubSpot at $150/user/month), saving over $18,000 annually while owning 100% of custom code IP.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28655" cy="47548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&amp; LIVE DEMONSTRATION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728655" cy="29260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discussion, committee Q&amp;A, and live end-to-end system walkthrough across all 3 user roles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6217920"/>
            <a:ext cx="10728655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272784"/>
            <a:ext cx="6400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ĐẤT XANH MIỀN TRUNG • REGAL GROUP | ENTERPRISE CRM SYSTEM REVIEW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31375" y="6272784"/>
            <a:ext cx="1828800" cy="256032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 of 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71600" y="1645920"/>
            <a:ext cx="9448495" cy="434340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6590" y="1874520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6590" y="1874520"/>
            <a:ext cx="3657600" cy="329184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PROGRESS REVIEW COMPLETE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0" y="2331720"/>
            <a:ext cx="8534095" cy="7772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828800" y="3127248"/>
            <a:ext cx="8534095" cy="38404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Q&amp;A &amp; LIVE SYSTEM DEMONSTRATION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11680" y="3639312"/>
            <a:ext cx="8168335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5240">
            <a:solidFill>
              <a:srgbClr val="006B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3749040"/>
            <a:ext cx="7802575" cy="27432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DEMONSTRATION ACCESS: estate.daidev.me (fe-estate-system.vercel.app)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40280" y="406908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4142232"/>
            <a:ext cx="2286000" cy="20116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ACCOUNT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31720" y="4361688"/>
            <a:ext cx="2286000" cy="2286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User: admin  |  Pass: Anhdaidtr04@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2331720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system control, employee provisioning, security audits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46320" y="406908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4142232"/>
            <a:ext cx="2286000" cy="20116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ACCOUNT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37760" y="4361688"/>
            <a:ext cx="2286000" cy="2286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User: leminhtri  |  Pass: Anhdaidtr04@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937760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inventory lock, booking approvals, lead distribution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7452360" y="406908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4142232"/>
            <a:ext cx="2286000" cy="201168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ACCOUNT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543800" y="4361688"/>
            <a:ext cx="2286000" cy="2286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User: tranbaongoc  |  Pass: Anhdaidtr04@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7543800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dossiers, 360° care logs, showroom appointments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1828800" y="5440680"/>
            <a:ext cx="8534095" cy="32004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 Trần Anh Đài  |  Đất Xanh Miền Trung (Regal Group) CRM Engineering Team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Đất Xanh Miền Trung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Đất Xanh Miền Trung - Real Estate Business Management CRM Review</dc:title>
  <dc:subject>Individual Project Progress Review</dc:subject>
  <dc:creator>Trần Anh Đài</dc:creator>
  <cp:lastModifiedBy>Trần Anh Đài</cp:lastModifiedBy>
  <cp:revision>1</cp:revision>
  <dcterms:created xsi:type="dcterms:W3CDTF">2026-10-18T14:38:50Z</dcterms:created>
  <dcterms:modified xsi:type="dcterms:W3CDTF">2026-10-18T14:38:50Z</dcterms:modified>
</cp:coreProperties>
</file>