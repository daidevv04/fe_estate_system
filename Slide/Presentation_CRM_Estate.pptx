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0" y="1005840"/>
            <a:ext cx="4510735" cy="411480"/>
          </a:xfrm>
          <a:prstGeom prst="roundRect">
            <a:avLst/>
          </a:prstGeom>
          <a:solidFill>
            <a:srgbClr val="003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EE7B7"/>
                </a:solidFill>
              </a:defRPr>
            </a:pPr>
            <a:r>
              <a:t>🏢  ĐẤT XANH MIỀN TRUNG  •  REGAL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HỆ THỐNG CRM QUẢN LÝ BẤT ĐỘNG SẢN CAO CẤP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Nền tảng số hóa toàn diện quy trình kinh doanh, giỏ hàng dự án, phân hệ khách hàng &amp; hợp đồng giao dịch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291840"/>
            <a:ext cx="365760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34747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👤 NGƯỜI TRÌNH BÀY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Trần Anh Đài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365760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4747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38BDF8"/>
                </a:solidFill>
              </a:defRPr>
            </a:pPr>
            <a:r>
              <a:t>🌐 WEBSITE TRUY CẬP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estate.daidev.me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663440"/>
            <a:ext cx="365760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48463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59E0B"/>
                </a:solidFill>
              </a:defRPr>
            </a:pPr>
            <a:r>
              <a:t>⚙️ KIẾN TRÚC CÔNG NGHỆ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Spring Boot 3 • React Vite • 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365760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8463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A855F7"/>
                </a:solidFill>
              </a:defRPr>
            </a:pPr>
            <a:r>
              <a:t>☁️ MÔI TRƯỜNG CLOUD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Render Web Service • Vercel CDN • Resend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NỘI DUNG TRÌNH CHIẾU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Mục Lục Chương Trình Báo Cáo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Toàn cảnh 14 chuyên đề kiến trúc, nghiệp vụ thực chiến và chiến lược tối ưu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Phần 1: Kiến Trúc &amp; Nền Tảng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Tổng quan hệ thống &amp; Phân quyền RBAC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Môi trường triển khai đám mây (Render, Vercel, Supabase)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Cơ chế an toàn bảo mật (2FA, OTP Mail, JWT Stateless)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Phần 2: Trải Nghiệm &amp; Luồng Nghiệp Vụ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Giao diện &amp; Luồng tác vụ Quản trị viên (Admin)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Giao diện &amp; Phân bổ giỏ hàng dự án (Manager)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Giao diện &amp; Phễu tư vấn chốt deal (Sales)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Phân hệ trọng tâm: Chăm sóc khách hàng 360 đa kênh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400" b="1">
                <a:solidFill>
                  <a:srgbClr val="FFFFFF"/>
                </a:solidFill>
              </a:defRPr>
            </a:pPr>
            <a:r>
              <a:t>Phần 3: Vòng Đời, Hạn Chế &amp; Tương Lai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Quy trình giao dịch BĐS (Booking -&gt; HĐMB -&gt; Hoa hồng)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Hạn chế hạ tầng Render Cloud Free &amp; Giải pháp kỹ thuật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Định hướng mở rộng: Trợ lý ảo AI tư vấn BĐS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Giá trị thực tiễn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PHÂN QUYỀN HỆ THỐNG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Mô Hình Vai Trò &amp; Phân Quyền (RBAC)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Bảo đảm an toàn dữ liệu khách hàng và phân cấp quản lý kinh doanh đa tầng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EF4444"/>
                </a:solidFill>
              </a:defRPr>
            </a:pPr>
            <a:r>
              <a:t>🛡️ ADMIN (Quản Trị Viên)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Toàn quyền kiểm soát tài khoản cấp hệ thống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Thêm mới nhân sự, cấp phát Role, reset mật khẩu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Giám sát Audit Logs, phát hiện tác vụ nhạy cảm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Xem báo cáo tổng hợp KPI doanh số toàn công 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38BDF8"/>
                </a:solidFill>
              </a:defRPr>
            </a:pPr>
            <a:r>
              <a:t>👔 MANAGER (Trưởng Phòng KD)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Quản lý bảng hàng dự án, mở bán các block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Phân bổ Lead khách hàng nóng cho chuyên viên Sales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Phê duyệt phiếu yêu cầu giữ chỗ (Booking), đặt cọc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Giám sát tiến độ thanh toán HĐMB và dòng tiền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10B981"/>
                </a:solidFill>
              </a:defRPr>
            </a:pPr>
            <a:r>
              <a:t>💼 SALES (Chuyên Viên Tư Vấn)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Tiếp nhận Lead, phân loại khách hàng VIP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Ghi nhật ký chăm sóc 360 độ (Call, Meeting, Email, Note)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Đặt lịch hẹn trải nghiệm sa bàn / thực tế dự án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✔  Lập phiếu yêu cầu cọc và theo dõi hoa hồng môi giới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HẠ TẦNG &amp; MÔI TRƯỜNG TRIỂN KHAI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Kiến Trúc Triển Khai Đám Mây Hiện Đại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Mô hình kết hợp tối ưu giữa Vercel Edge, Render Cloud, Supabase Multi-DB và Resend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▲ Vercel Cloud</a:t>
            </a:r>
          </a:p>
          <a:p>
            <a:pPr>
              <a:spcAft>
                <a:spcPts val="1200"/>
              </a:spcAft>
              <a:defRPr sz="950">
                <a:solidFill>
                  <a:srgbClr val="94A3B8"/>
                </a:solidFill>
              </a:defRPr>
            </a:pPr>
            <a:r>
              <a:t>Frontend Hosting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React 18 + Vite + TypeScript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Tự động Build &amp; Deploy qua GitHub CI/CD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CDN Edge Network toàn cầu độ trễ &lt;20ms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Tên miền chính thức: estate.daidev.me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7452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⚡ Render Cloud</a:t>
            </a:r>
          </a:p>
          <a:p>
            <a:pPr>
              <a:spcAft>
                <a:spcPts val="1200"/>
              </a:spcAft>
              <a:defRPr sz="950">
                <a:solidFill>
                  <a:srgbClr val="94A3B8"/>
                </a:solidFill>
              </a:defRPr>
            </a:pPr>
            <a:r>
              <a:t>Backend Microservices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Spring Boot 3 API Gateway (Port 8080)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Đóng gói Docker Container độc lập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Tự động khôi phục (Auto-restart) khi gặp lỗi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Giao thức HTTPS / SSL bảo mật toàn trình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6EE7B7"/>
                </a:solidFill>
              </a:defRPr>
            </a:pPr>
            <a:r>
              <a:t>🗄️ Supabase Cloud</a:t>
            </a:r>
          </a:p>
          <a:p>
            <a:pPr>
              <a:spcAft>
                <a:spcPts val="1200"/>
              </a:spcAft>
              <a:defRPr sz="950">
                <a:solidFill>
                  <a:srgbClr val="94A3B8"/>
                </a:solidFill>
              </a:defRPr>
            </a:pPr>
            <a:r>
              <a:t>Multi-DB PostgreSQL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3 Database cô lập: USER_DB, CUSTOMER_DB, CRM_DB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Đảm bảo an toàn phân tách dữ liệu tuyệt đối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Sao lưu tự động &amp; kết nối Connection Pooling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Hỗ trợ mở rộng pgvector cho AI tương lai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7452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✉️ Resend API</a:t>
            </a:r>
          </a:p>
          <a:p>
            <a:pPr>
              <a:spcAft>
                <a:spcPts val="1200"/>
              </a:spcAft>
              <a:defRPr sz="950">
                <a:solidFill>
                  <a:srgbClr val="94A3B8"/>
                </a:solidFill>
              </a:defRPr>
            </a:pPr>
            <a:r>
              <a:t>Transaction Mail Service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Gửi mã xác thực OTP 6 số bảo mật tức thì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Gửi thông báo tiến độ thanh toán HĐMB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Giao thức REST HTTP (Port 443) an toàn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• Miễn nhiễm vấn đề nhà mạng/cloud chặn SMTP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BẢO MẬT &amp; XÁC THỰC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Cơ Chế Xác Thực &amp; An Toàn Thông Tin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Kiến trúc Zero-Trust bảo vệ tuyệt đối dữ liệu khách hàng VIP và giao dịch bất động sản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45920"/>
            <a:ext cx="448056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73736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[1]  JWT Token Stateless + Claims Phân Quyền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Cấp phát Access Token HMAC-SHA256 chứa vai trò người dùng (ROLE_ADMIN, ROLE_MANAGER, ROLE_SALE) bảo vệ mọi API Gateway.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788920"/>
            <a:ext cx="448056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88036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[2]  Xác Thực 2 Yếu Tố (2FA TOTP Authenticator)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Hỗ trợ Google Authenticator xoay vòng mã 6 số mỗi 30 giây, loại bỏ triệt để rủi ro lộ mật khẩu cá nhân.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931920"/>
            <a:ext cx="448056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402336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[3]  Email OTP Verification Qua Resend API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Gửi mã OTP qua email xác thực khi đăng nhập trên thiết bị lạ hoặc kích hoạt tài khoản nhân sự mới.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074920"/>
            <a:ext cx="448056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516636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[4]  Mã Hóa Bcrypt Salt 10 Rounds &amp; Rate Limit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Mật khẩu băm 1 chiều không thể đảo ngược; áp dụng rate-limiting chống lại tấn công dò mật khẩu Brute-force.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GIAO DIỆN &amp; TÁC VỤ QUẢN TRỊ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Phân Hệ Quản Trị Viên (Admin Portal)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Giao diện quản lý nhân sự, phân bổ chức vụ, kích hoạt 2FA và luồng tác vụ chuẩn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4592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73736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[1]  Menu Phân Quyền Quản Trị Độc Quyền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Admin có quyền truy cập thanh menu cấu hình nhân sự, giám sát log hệ thống và phân bổ dự 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65176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74320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[2]  Nút Thêm Mới &amp; Cấp Quyền Nhân Viên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Tạo nhanh tài khoản chuyên viên, gán Role (Manager / Sales) và kích hoạt gửi thư mời.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5760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74904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[3]  Trạng Thái Bảo Mật 2FA &amp; Khóa Tài Khoản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Theo dõi tình trạng bật 2FA của từng nhân viên và tính năng khóa tức thì khi có sự cố an ninh.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709160"/>
            <a:ext cx="4480560" cy="1417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80060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6EE7B7"/>
                </a:solidFill>
              </a:defRPr>
            </a:pPr>
            <a:r>
              <a:t>⚡ LUỒNG THAO TÁC CHUẨN CỦA ADMIN: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1. Đăng nhập hệ thống bằng tài khoản quản trị cao cấp.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2. Vào 'Quản lý người dùng' -&gt; Tạo nhân viên mới &amp; phân bổ phòng ban.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3. Giám sát biểu đồ doanh số tổng và audit log giao dịch hệ thống.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GIAO DIỆN &amp; TÁC VỤ QUẢN LÝ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Phân Hệ Trưởng Phòng Kinh Doanh (Manager)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Kiểm soát bảng hàng dự án Regal Group, duyệt thỏa thuận đặt cọc và quản trị giỏ hàng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4592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73736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[1]  Danh Mục Siêu Dự Án Regal Group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Trực quan hóa 6 đại dự án trọng điểm: Regal Legend, Regal Complex, Regal Victoria,...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65176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74320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[2]  Bảng Hàng &amp; Giỏ Căn Hộ Real-time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Kiểm tra tình trạng: Còn trống, Đã giữ chỗ, Đã cọc, Đã bán; triệt tiêu hoàn toàn trùng căn.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5760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74904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[3]  Duyệt Phiếu Đặt Cọc &amp; Khóa Căn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Manager đối soát ủy nhiệm chi thiện chí và bấm nút duyệt để khóa mã căn trên toàn sàn.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709160"/>
            <a:ext cx="4480560" cy="1417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80060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⚡ LUỒNG THAO TÁC CHUẨN CỦA MANAGER: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1. Mở bảng hàng dự án, kiểm tra giỏ căn hộ mở bán đợt 1.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2. Tiếp nhận yêu cầu Booking từ Sales -&gt; Đối soát ủy nhiệm chi cọc.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3. Nhấn 'Phê duyệt' để khóa mã căn trên toàn bộ hệ thống bán hàng.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GIAO DIỆN &amp; TÁC VỤ KINH DOANH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Phân Hệ Chuyên Viên Tư Vấn (Sales)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Quản lý phễu khách hàng tiềm năng, đặt lịch hẹn trải nghiệm sa bàn và chốt cọc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4592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73736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[1]  Bộ Lọc Khách Hàng Tiềm Năng &amp; VIP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Lọc nhanh khách theo phân khúc: Nhà đầu tư VIP, Mua ở, Ngân sách tài chính 3 tỷ - 25 tỷ.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65176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74320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[2]  Lịch Hẹn Sa Bàn &amp; Thực Địa Dự Án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Lên lịch đưa đón khách tham quan thực tế công trường, hệ thống tự động nhắc nhở lịch hẹn.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57600"/>
            <a:ext cx="4480560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74904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[3]  Bảng Tính Dòng Tiền &amp; Lập Phiếu Cọc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Xuất tiến độ giải ngân ngân hàng hỗ trợ lãi suất 0% và tạo phiếu giữ chỗ tức thì.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4709160"/>
            <a:ext cx="4480560" cy="1417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80060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⚡ LUỒNG THAO TÁC CHUẨN CỦA SALES: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1. Tiếp nhận Lead nóng -&gt; Gọi điện khảo sát nhu cầu đầu tư BĐS.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2. Đặt lịch hẹn tư vấn sa bàn &amp; chọn căn phù hợp phong thủy / hướng view.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</a:defRPr>
            </a:pPr>
            <a:r>
              <a:t>3. Hướng dẫn khách chuyển khoản thiện chí 50-100tr, gửi yêu cầu Manager duyệt.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PHÂN HỆ TRỌNG TÂM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Quản Lý &amp; Nhật Ký Chăm Sóc Đa Kênh (Customer Care)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Trực quan hóa 5 chỉ số KPI tràn đều 100% chiều ngang và lịch sử tương tác 360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customer_c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94360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645920"/>
            <a:ext cx="4480560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7373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[1]  5 Thẻ KPI Tràn Đều Chiều Ngang (CSS Grid)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Cấu hình `grid-template-columns: repeat(5, minmax(0, 1fr))` tạo tỷ lệ hoàn hảo: Tổng lượt, Gọi điện, Họp trực tiếp, Email, Ghi chú.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788920"/>
            <a:ext cx="4480560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8803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[2]  Nhật Ký Tương Tác Đa Kênh 360 Độ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Ghi lại mọi cuộc gọi, nội dung trao đổi, lịch họp dự thảo hợp đồng, đảm bảo không sót bất kỳ phản hồi nào từ khách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931920"/>
            <a:ext cx="4480560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402336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[3]  Đánh Giá Mức Độ Gắn Kết &amp; Cảm Xúc</a:t>
            </a:r>
          </a:p>
          <a:p>
            <a:pPr>
              <a:defRPr sz="1000">
                <a:solidFill>
                  <a:srgbClr val="E2E8F0"/>
                </a:solidFill>
                <a:latin typeface="Arial"/>
              </a:defRPr>
            </a:pPr>
            <a:r>
              <a:t>Phân loại khách: Hào hứng với shophouse, Chần chừ dòng tiền,... giúp Manager đưa ra chính sách chiết khấu kịp thời.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074920"/>
            <a:ext cx="448056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51663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6EE7B7"/>
                </a:solidFill>
              </a:defRPr>
            </a:pPr>
            <a:r>
              <a:t>💡 GIÁ TRỊ VÀNG CHO DOANH NGHIỆP: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Nhân viên Sales nghỉ việc hay đổi dự án thì toàn bộ dữ liệu chăm sóc khách hàng VIP vẫn được lưu giữ an toàn, bàn giao liền mạch.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QUY TRÌNH KINH DOANH CHUẨN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Vòng Đời Giao Dịch Bất Động Sản Trong Hệ Thống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Hành trình khép kín từ lúc tiếp nhận Lead đến ký Hợp Đồng Mua Bán và chi trả hoa hồng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BƯỚC 01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1. TIẾP NHẬN LEAD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Thu thập từ Marketing</a:t>
            </a:r>
            <a:br/>
            <a:r>
              <a:t>• Sales gọi điện trong 15p</a:t>
            </a:r>
            <a:br/>
            <a:r>
              <a:t>• Phân loại ngân sách đầu tư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9776" y="3840480"/>
            <a:ext cx="109728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2011680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9456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BƯỚC 02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2. BOOKING GIỮ CHỖ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Chọn mã căn mong muốn</a:t>
            </a:r>
            <a:br/>
            <a:r>
              <a:t>• Nộp 50-100tr thiện chí</a:t>
            </a:r>
            <a:br/>
            <a:r>
              <a:t>• Khóa căn ưu tiên 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74336" y="3840480"/>
            <a:ext cx="109728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0640" y="2011680"/>
            <a:ext cx="2011680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9456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BƯỚC 03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3. ĐẶT CỌC CHÍNH THỨC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Chuyển cọc không hoàn lại</a:t>
            </a:r>
            <a:br/>
            <a:r>
              <a:t>• Manager phê duyệt cọc</a:t>
            </a:r>
            <a:br/>
            <a:r>
              <a:t>• Căn chuyển sang 'ĐÃ CỌC'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68896" y="3840480"/>
            <a:ext cx="109728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199" y="2011680"/>
            <a:ext cx="2011680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59" y="219456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855F7"/>
                </a:solidFill>
              </a:defRPr>
            </a:pPr>
            <a:r>
              <a:t>BƯỚC 04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4. KÝ KẾT HĐMB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Ký Hợp Đồng Mua Bán</a:t>
            </a:r>
            <a:br/>
            <a:r>
              <a:t>• Lên lịch đóng tiền 7-10 đợt</a:t>
            </a:r>
            <a:br/>
            <a:r>
              <a:t>• Tự động gửi mail nhắc nợ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63455" y="3840480"/>
            <a:ext cx="109728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2011680"/>
            <a:ext cx="2011680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219456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</a:defRPr>
            </a:pPr>
            <a:r>
              <a:t>BƯỚC 05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5. BÀN GIAO &amp; HOA HỒNG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• Bàn giao nhà &amp; Sổ hồng</a:t>
            </a:r>
            <a:br/>
            <a:r>
              <a:t>• Hệ thống tính hoa hồng</a:t>
            </a:r>
            <a:br/>
            <a:r>
              <a:t>• Quyết toán thưởng Sales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TỐI ƯU HÓA HẠ TẦNG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Hạn Chế Hạ Tầng Cloud Free &amp; Giải Pháp Kỹ Thuật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Cách thức đội ngũ kỹ thuật giải quyết bài toán tài nguyên hạn chế một cách thực tế và hiệu quả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F4444"/>
                </a:solidFill>
              </a:defRPr>
            </a:pPr>
            <a:r>
              <a:t>⚠️ HẠN CHẾ CỦA CLOUD FREE (RENDER / VERCEL)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🔴 Không thể chạy Kafka / RabbitMQ phân tán: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Kafka yêu cầu Zookeeper/KRaft và tối thiểu 2-4GB RAM, vượt quá trần 512MB RAM miễn phí của Render.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🔴 Chi phí duy trì cụm Redis Cloud độc lập: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Dịch vụ Redis Managed tốn kém chi phí hàng tháng, không khả thi với dự án tối ưu ngân sách.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🔴 Hiện tượng Cold-Start trên Render Web Service: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Container tự động ngủ đông sau 15 phút không có request, gây trễ 45s ở lượt truy cập đầu tiên.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🔴 Render chặn các cổng SMTP truyền thống: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Các port gửi mail (25, 465, 587) bị khóa mạng hoàn toàn để chống spam.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✅ GIẢI PHÁP KỸ THUẬT ĐÃ TRIỂN KHAI THỰC TẾ</a:t>
            </a:r>
          </a:p>
          <a:p>
            <a:pPr>
              <a:defRPr sz="1050" b="1">
                <a:solidFill>
                  <a:srgbClr val="6EE7B7"/>
                </a:solidFill>
              </a:defRPr>
            </a:pPr>
            <a:r>
              <a:t>🟢 Sử dụng In-Memory Cache (Caffeine):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Bộ nhớ RAM JVM siêu nhẹ, truy xuất tức thì &lt;1ms, không tốn thêm bất kỳ tài nguyên máy chủ bên ngoài nào.</a:t>
            </a:r>
          </a:p>
          <a:p>
            <a:pPr>
              <a:defRPr sz="1050" b="1">
                <a:solidFill>
                  <a:srgbClr val="6EE7B7"/>
                </a:solidFill>
              </a:defRPr>
            </a:pPr>
            <a:r>
              <a:t>🟢 Event-Driven Nội Bộ Spring Framework: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Tận dụng ApplicationEventPublisher và @Async xử lý bất đồng bộ, thay thế hoàn hảo cho Kafka.</a:t>
            </a:r>
          </a:p>
          <a:p>
            <a:pPr>
              <a:defRPr sz="1050" b="1">
                <a:solidFill>
                  <a:srgbClr val="6EE7B7"/>
                </a:solidFill>
              </a:defRPr>
            </a:pPr>
            <a:r>
              <a:t>🟢 Tích Hợp Resend API Qua Cổng HTTPS 443: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Gửi email OTP và thông báo qua HTTP REST API an toàn, miễn nhiễm việc bị chặn port SMTP.</a:t>
            </a:r>
          </a:p>
          <a:p>
            <a:pPr>
              <a:defRPr sz="1050" b="1">
                <a:solidFill>
                  <a:srgbClr val="6EE7B7"/>
                </a:solidFill>
              </a:defRPr>
            </a:pPr>
            <a:r>
              <a:t>🟢 Cơ Chế CronJob Giữ Ấm Container (Keep-Alive):</a:t>
            </a:r>
          </a:p>
          <a:p>
            <a:pPr>
              <a:spcAft>
                <a:spcPts val="800"/>
              </a:spcAft>
              <a:defRPr sz="950">
                <a:solidFill>
                  <a:srgbClr val="E2E8F0"/>
                </a:solidFill>
              </a:defRPr>
            </a:pPr>
            <a:r>
              <a:t>Tự động gửi HTTP ping định kỳ 10 phút, giữ container backend luôn sẵn sàng phục vụ tức thì.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ĐỊNH HƯỚNG TƯƠNG LAI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Kế Hoạch Mở Rộng: Trợ Lý Ảo AI Tư Vấn BĐS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Tích hợp AI thông minh, siêu nhẹ, chạy ổn định trên Render Cloud mà không gây quá tải 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50" b="1">
                <a:solidFill>
                  <a:srgbClr val="A855F7"/>
                </a:solidFill>
              </a:defRPr>
            </a:pPr>
            <a:r>
              <a:t>🤖 1. LLM API Client Tối Giản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Kết nối Google Gemini API qua HTTP Client nhẹ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Không nhúng mô hình AI nặng hàng GB vào JVM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Tiết kiệm 95% RAM máy chủ Render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Phản hồi tư vấn tự nhiên chỉ trong 1-2 giây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50" b="1">
                <a:solidFill>
                  <a:srgbClr val="10B981"/>
                </a:solidFill>
              </a:defRPr>
            </a:pPr>
            <a:r>
              <a:t>📚 2. RAG Trên Supabase pgvector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Nạp dữ liệu pháp lý &amp; bảng giá vào Vector DB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Truy vấn ngữ nghĩa căn shophouse/biệt thự đẹp nhất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Cung cấp thông tin chuẩn xác theo dự án Regal Group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Loại bỏ hoàn toàn rủi ro AI ảo tưởng (Hallucination)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50" b="1">
                <a:solidFill>
                  <a:srgbClr val="F59E0B"/>
                </a:solidFill>
              </a:defRPr>
            </a:pPr>
            <a:r>
              <a:t>📱 3. Tự Động Hóa Chăm Sóc &amp; Nhắc Việc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Tự động gợi ý kịch bản cuộc gọi tư vấn cho Sales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Bắn tin nhắn tóm tắt qua Telegram Bot khi có Lead mới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Dự đoán xác suất chốt deal dựa trên lịch sử tương tác</a:t>
            </a:r>
          </a:p>
          <a:p>
            <a:pPr>
              <a:spcAft>
                <a:spcPts val="1000"/>
              </a:spcAft>
              <a:defRPr sz="1050">
                <a:solidFill>
                  <a:srgbClr val="E2E8F0"/>
                </a:solidFill>
              </a:defRPr>
            </a:pPr>
            <a:r>
              <a:t>• Tối ưu hóa 70% thời gian chuẩn bị của đội ngũ kinh doanh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● HIỆU QUẢ THỰC TIỄN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Giá Trị Mang Lại Cho Doanh Nghiệp Bất Động Sản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Nâng cao năng lực cạnh tranh, tối ưu chi phí vận hành và tăng trưởng doanh thu vượt bậc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⚡ TĂNG 45% TỐC ĐỘ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Rút ngắn quy trình từ tư vấn đến đặt cọc giữ chỗ từ vài giờ xuống 3 phút. Khách hàng VIP được phục vụ nhanh chóng và chuyên nghiệp.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🔒 100% MINH BẠCH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Bảng hàng trực tuyến xóa bỏ hoàn toàn nguy cơ trùng căn bán chéo giữa các sàn môi giới. Dữ liệu hợp đồng rõ ràng, đối soát tức thì.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🛡️ GIẢM 80% RỦI RO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Bảo toàn 100% tài sản thông tin khách hàng. Dù nhân sự Sales luân chuyển, toàn bộ lịch sử tư vấn vẫn được kế thừa trọn vẹn.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51460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</a:defRPr>
            </a:pPr>
            <a:r>
              <a:t>💰 TIẾT KIỆM 100%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Không tốn hàng trăm triệu đồng phí bản quyền SaaS ngoại (Salesforce, HubSpot $150/user/tháng). Làm chủ toàn diện mã nguồn hệ thống.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097280"/>
            <a:ext cx="3962095" cy="411480"/>
          </a:xfrm>
          <a:prstGeom prst="roundRect">
            <a:avLst/>
          </a:prstGeom>
          <a:solidFill>
            <a:srgbClr val="00321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EE7B7"/>
                </a:solidFill>
              </a:defRPr>
            </a:pPr>
            <a:r>
              <a:t>🎉  KẾT THÚC BÁO CÁO  •  TRÂN TRỌNG CẢM 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XIN CHÂN THÀNH CẢM ƠN HỘI ĐỒNG!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Sẵn sàng lắng nghe ý kiến đóng góp, giải đáp thắc mắc &amp; Demo trực tiếp trên hệ thống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3474720"/>
            <a:ext cx="2926080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EE7B7"/>
                </a:solidFill>
              </a:defRPr>
            </a:pPr>
            <a:r>
              <a:t>👤 NGƯỜI TRÌNH BÀY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Trần Anh Đài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474720"/>
            <a:ext cx="2926080" cy="11887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🌐 WEBSITE HỆ THỐNG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estate.daidev.me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